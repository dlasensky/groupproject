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ewsreader"/>
      <p:regular r:id="rId13"/>
      <p:bold r:id="rId14"/>
      <p:italic r:id="rId15"/>
      <p:boldItalic r:id="rId16"/>
    </p:embeddedFont>
    <p:embeddedFont>
      <p:font typeface="DM Sans Light"/>
      <p:regular r:id="rId17"/>
      <p:bold r:id="rId18"/>
      <p:italic r:id="rId19"/>
      <p:boldItalic r:id="rId20"/>
    </p:embeddedFont>
    <p:embeddedFont>
      <p:font typeface="DM Sans SemiBold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  <p:embeddedFont>
      <p:font typeface="Newsreader SemiBold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ewsreaderSemiBold-italic.fntdata"/><Relationship Id="rId30" Type="http://schemas.openxmlformats.org/officeDocument/2006/relationships/font" Target="fonts/NewsreaderSemiBold-bold.fntdata"/><Relationship Id="rId32" Type="http://schemas.openxmlformats.org/officeDocument/2006/relationships/font" Target="fonts/NewsreaderSemiBold-boldItalic.fntdata"/><Relationship Id="rId20" Type="http://schemas.openxmlformats.org/officeDocument/2006/relationships/font" Target="fonts/DMSansLight-boldItalic.fntdata"/><Relationship Id="rId22" Type="http://schemas.openxmlformats.org/officeDocument/2006/relationships/font" Target="fonts/DMSansSemiBold-bold.fntdata"/><Relationship Id="rId21" Type="http://schemas.openxmlformats.org/officeDocument/2006/relationships/font" Target="fonts/DMSansSemiBold-regular.fntdata"/><Relationship Id="rId24" Type="http://schemas.openxmlformats.org/officeDocument/2006/relationships/font" Target="fonts/DMSansSemiBold-boldItalic.fntdata"/><Relationship Id="rId23" Type="http://schemas.openxmlformats.org/officeDocument/2006/relationships/font" Target="fonts/DMSansSemiBold-italic.fntdata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29" Type="http://schemas.openxmlformats.org/officeDocument/2006/relationships/font" Target="fonts/NewsreaderSemiBo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ewsreader-regular.fntdata"/><Relationship Id="rId12" Type="http://schemas.openxmlformats.org/officeDocument/2006/relationships/slide" Target="slides/slide7.xml"/><Relationship Id="rId15" Type="http://schemas.openxmlformats.org/officeDocument/2006/relationships/font" Target="fonts/Newsreader-italic.fntdata"/><Relationship Id="rId14" Type="http://schemas.openxmlformats.org/officeDocument/2006/relationships/font" Target="fonts/Newsreader-bold.fntdata"/><Relationship Id="rId17" Type="http://schemas.openxmlformats.org/officeDocument/2006/relationships/font" Target="fonts/DMSansLight-regular.fntdata"/><Relationship Id="rId16" Type="http://schemas.openxmlformats.org/officeDocument/2006/relationships/font" Target="fonts/Newsreader-boldItalic.fntdata"/><Relationship Id="rId19" Type="http://schemas.openxmlformats.org/officeDocument/2006/relationships/font" Target="fonts/DMSansLight-italic.fntdata"/><Relationship Id="rId18" Type="http://schemas.openxmlformats.org/officeDocument/2006/relationships/font" Target="fonts/DMSansLight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aba31fab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aba31fab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aba31fab9c_0_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aba31fab9c_0_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3aba31fab9c_0_4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3aba31fab9c_0_4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aba31fab9c_0_4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aba31fab9c_0_4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aba31fab9c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aba31fab9c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aba31fab9c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aba31fab9c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3aba31fab9c_0_6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3aba31fab9c_0_6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close-up of a modern glass structure. " id="468" name="Google Shape;468;p55"/>
          <p:cNvPicPr preferRelativeResize="0"/>
          <p:nvPr/>
        </p:nvPicPr>
        <p:blipFill rotWithShape="1">
          <a:blip r:embed="rId3">
            <a:alphaModFix/>
          </a:blip>
          <a:srcRect b="79" l="21736" r="19116" t="0"/>
          <a:stretch/>
        </p:blipFill>
        <p:spPr>
          <a:xfrm>
            <a:off x="4587725" y="-8750"/>
            <a:ext cx="4572001" cy="5148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55"/>
          <p:cNvSpPr txBox="1"/>
          <p:nvPr>
            <p:ph type="title"/>
          </p:nvPr>
        </p:nvSpPr>
        <p:spPr>
          <a:xfrm>
            <a:off x="361975" y="1066100"/>
            <a:ext cx="38601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183C4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CMS 270: Object Oriented Design and Development </a:t>
            </a:r>
            <a:endParaRPr sz="1200">
              <a:highlight>
                <a:srgbClr val="183C4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183C4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Group Project </a:t>
            </a:r>
            <a:endParaRPr sz="1200">
              <a:highlight>
                <a:srgbClr val="183C4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1200">
                <a:highlight>
                  <a:srgbClr val="183C4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200">
              <a:highlight>
                <a:srgbClr val="183C4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3100">
                <a:highlight>
                  <a:srgbClr val="183C40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Rollins Menu Viewer </a:t>
            </a:r>
            <a:endParaRPr sz="3100">
              <a:highlight>
                <a:srgbClr val="183C4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83C40"/>
              </a:highlight>
            </a:endParaRPr>
          </a:p>
        </p:txBody>
      </p:sp>
      <p:sp>
        <p:nvSpPr>
          <p:cNvPr id="470" name="Google Shape;470;p55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12/2/25</a:t>
            </a:r>
            <a:endParaRPr/>
          </a:p>
        </p:txBody>
      </p:sp>
      <p:sp>
        <p:nvSpPr>
          <p:cNvPr id="471" name="Google Shape;471;p55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Luke Bowen - Presentation, Drink, Meal, Snack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Dallas Holm - </a:t>
            </a:r>
            <a:r>
              <a:rPr lang="en" sz="1200"/>
              <a:t>Report, MenuItem, Add/Remove Functions</a:t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Dylan Lasensky - </a:t>
            </a:r>
            <a:r>
              <a:rPr lang="en" sz="1200"/>
              <a:t>UML Diagram, UI, </a:t>
            </a:r>
            <a:r>
              <a:rPr lang="en" sz="1200"/>
              <a:t>LoginFrame, MenuFrame, and MenuManager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7" name="Google Shape;477;p56"/>
          <p:cNvSpPr txBox="1"/>
          <p:nvPr>
            <p:ph idx="3" type="subTitle"/>
          </p:nvPr>
        </p:nvSpPr>
        <p:spPr>
          <a:xfrm>
            <a:off x="2490450" y="732775"/>
            <a:ext cx="4163100" cy="2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DM Sans"/>
                <a:ea typeface="DM Sans"/>
                <a:cs typeface="DM Sans"/>
                <a:sym typeface="DM Sans"/>
              </a:rPr>
              <a:t>OUR PROJECT CONCEPT</a:t>
            </a:r>
            <a:endParaRPr b="1" sz="16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78" name="Google Shape;478;p56"/>
          <p:cNvSpPr txBox="1"/>
          <p:nvPr>
            <p:ph type="title"/>
          </p:nvPr>
        </p:nvSpPr>
        <p:spPr>
          <a:xfrm>
            <a:off x="719400" y="1254600"/>
            <a:ext cx="7705200" cy="22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Our program is a menu viewer for a fictional Rollins Cafe.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Goals: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Menu items with a </a:t>
            </a: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category</a:t>
            </a: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, description, calorie count, and price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Admin login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Ability to add or remove items from the menu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 logout ability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Char char="●"/>
            </a:pPr>
            <a:r>
              <a:rPr lang="en" sz="1800">
                <a:solidFill>
                  <a:srgbClr val="000000"/>
                </a:solidFill>
                <a:highlight>
                  <a:srgbClr val="F9F9F9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Implement a clear GUI</a:t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highlight>
                <a:srgbClr val="F9F9F9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79" name="Google Shape;479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550" y="2723200"/>
            <a:ext cx="4468450" cy="242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7"/>
          <p:cNvSpPr txBox="1"/>
          <p:nvPr>
            <p:ph type="title"/>
          </p:nvPr>
        </p:nvSpPr>
        <p:spPr>
          <a:xfrm>
            <a:off x="672450" y="2114550"/>
            <a:ext cx="7705200" cy="45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DEMO</a:t>
            </a:r>
            <a:endParaRPr sz="3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58"/>
          <p:cNvSpPr/>
          <p:nvPr/>
        </p:nvSpPr>
        <p:spPr>
          <a:xfrm>
            <a:off x="2286118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0" name="Google Shape;490;p58"/>
          <p:cNvSpPr/>
          <p:nvPr/>
        </p:nvSpPr>
        <p:spPr>
          <a:xfrm>
            <a:off x="4565474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1" name="Google Shape;491;p58"/>
          <p:cNvSpPr/>
          <p:nvPr/>
        </p:nvSpPr>
        <p:spPr>
          <a:xfrm>
            <a:off x="50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492" name="Google Shape;492;p58"/>
          <p:cNvSpPr/>
          <p:nvPr/>
        </p:nvSpPr>
        <p:spPr>
          <a:xfrm>
            <a:off x="6849550" y="2314800"/>
            <a:ext cx="2294400" cy="2236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493" name="Google Shape;493;p58"/>
          <p:cNvCxnSpPr/>
          <p:nvPr/>
        </p:nvCxnSpPr>
        <p:spPr>
          <a:xfrm>
            <a:off x="6849550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4" name="Google Shape;494;p58"/>
          <p:cNvCxnSpPr/>
          <p:nvPr/>
        </p:nvCxnSpPr>
        <p:spPr>
          <a:xfrm>
            <a:off x="4565474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5" name="Google Shape;495;p58"/>
          <p:cNvCxnSpPr/>
          <p:nvPr/>
        </p:nvCxnSpPr>
        <p:spPr>
          <a:xfrm>
            <a:off x="2286118" y="2298382"/>
            <a:ext cx="0" cy="2249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6" name="Google Shape;496;p58"/>
          <p:cNvSpPr txBox="1"/>
          <p:nvPr>
            <p:ph idx="5" type="body"/>
          </p:nvPr>
        </p:nvSpPr>
        <p:spPr>
          <a:xfrm>
            <a:off x="4866875" y="3337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There were issues because of the different </a:t>
            </a:r>
            <a:r>
              <a:rPr lang="en"/>
              <a:t>categories</a:t>
            </a:r>
            <a:r>
              <a:rPr lang="en"/>
              <a:t> of each label being displayed This was fixed by adding a scrollable JComboBox that displayed items added.</a:t>
            </a:r>
            <a:endParaRPr/>
          </a:p>
        </p:txBody>
      </p:sp>
      <p:sp>
        <p:nvSpPr>
          <p:cNvPr id="497" name="Google Shape;497;p5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8" name="Google Shape;498;p58"/>
          <p:cNvSpPr txBox="1"/>
          <p:nvPr>
            <p:ph idx="8" type="body"/>
          </p:nvPr>
        </p:nvSpPr>
        <p:spPr>
          <a:xfrm>
            <a:off x="2602900" y="34176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member experienced issues updating the project and accessing new pushes.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"/>
              <a:t>We overcame this by emailing each other updates when needed.</a:t>
            </a:r>
            <a:endParaRPr/>
          </a:p>
        </p:txBody>
      </p:sp>
      <p:sp>
        <p:nvSpPr>
          <p:cNvPr id="499" name="Google Shape;499;p58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500" name="Google Shape;500;p58"/>
          <p:cNvSpPr txBox="1"/>
          <p:nvPr>
            <p:ph idx="2" type="body"/>
          </p:nvPr>
        </p:nvSpPr>
        <p:spPr>
          <a:xfrm>
            <a:off x="7130850" y="32439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Matching event handling with the UI reflecting changes was an issue. Also getting the UI to look natural and intuitive took lots of time and small changes to make work.</a:t>
            </a:r>
            <a:endParaRPr/>
          </a:p>
        </p:txBody>
      </p:sp>
      <p:sp>
        <p:nvSpPr>
          <p:cNvPr id="501" name="Google Shape;501;p58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502" name="Google Shape;502;p58"/>
          <p:cNvSpPr txBox="1"/>
          <p:nvPr>
            <p:ph idx="14" type="body"/>
          </p:nvPr>
        </p:nvSpPr>
        <p:spPr>
          <a:xfrm>
            <a:off x="361975" y="3544325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We all had very busy schedules and had trouble meeting in person. We </a:t>
            </a:r>
            <a:r>
              <a:rPr lang="en"/>
              <a:t>ended</a:t>
            </a:r>
            <a:r>
              <a:rPr lang="en"/>
              <a:t> up meeting over zoom often.</a:t>
            </a:r>
            <a:endParaRPr/>
          </a:p>
        </p:txBody>
      </p:sp>
      <p:sp>
        <p:nvSpPr>
          <p:cNvPr id="503" name="Google Shape;503;p58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THE</a:t>
            </a:r>
            <a:r>
              <a:rPr lang="en"/>
              <a:t> ADD FUNCTION</a:t>
            </a:r>
            <a:endParaRPr/>
          </a:p>
        </p:txBody>
      </p:sp>
      <p:sp>
        <p:nvSpPr>
          <p:cNvPr id="504" name="Google Shape;504;p58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UI DESIGN PROBLEMS</a:t>
            </a:r>
            <a:endParaRPr/>
          </a:p>
        </p:txBody>
      </p:sp>
      <p:sp>
        <p:nvSpPr>
          <p:cNvPr id="505" name="Google Shape;505;p58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506" name="Google Shape;506;p58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GITHUB SYNCING</a:t>
            </a:r>
            <a:endParaRPr/>
          </a:p>
        </p:txBody>
      </p:sp>
      <p:sp>
        <p:nvSpPr>
          <p:cNvPr id="507" name="Google Shape;507;p58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508" name="Google Shape;508;p58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SCHEDULING</a:t>
            </a:r>
            <a:r>
              <a:rPr lang="en"/>
              <a:t> </a:t>
            </a:r>
            <a:endParaRPr/>
          </a:p>
        </p:txBody>
      </p:sp>
      <p:sp>
        <p:nvSpPr>
          <p:cNvPr id="509" name="Google Shape;509;p58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Issues We Faced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&amp;</a:t>
            </a:r>
            <a:endParaRPr sz="25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Lessons Learned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9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MenuManager.java sets up the ArrayList for all the items from each category.</a:t>
            </a:r>
            <a:endParaRPr sz="1600"/>
          </a:p>
        </p:txBody>
      </p:sp>
      <p:sp>
        <p:nvSpPr>
          <p:cNvPr id="515" name="Google Shape;515;p59"/>
          <p:cNvSpPr txBox="1"/>
          <p:nvPr>
            <p:ph idx="6" type="subTitle"/>
          </p:nvPr>
        </p:nvSpPr>
        <p:spPr>
          <a:xfrm>
            <a:off x="4837250" y="3337805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LoginFrame.java acts as the starter, </a:t>
            </a:r>
            <a:r>
              <a:rPr lang="en"/>
              <a:t>implements</a:t>
            </a:r>
            <a:r>
              <a:rPr lang="en"/>
              <a:t> the Login GUI, and sets login conditions.</a:t>
            </a:r>
            <a:endParaRPr/>
          </a:p>
        </p:txBody>
      </p:sp>
      <p:sp>
        <p:nvSpPr>
          <p:cNvPr id="516" name="Google Shape;516;p59"/>
          <p:cNvSpPr txBox="1"/>
          <p:nvPr>
            <p:ph idx="1" type="subTitle"/>
          </p:nvPr>
        </p:nvSpPr>
        <p:spPr>
          <a:xfrm>
            <a:off x="361975" y="2138309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MenuItem is the abstract class which is </a:t>
            </a:r>
            <a:r>
              <a:rPr lang="en"/>
              <a:t>inherited</a:t>
            </a:r>
            <a:r>
              <a:rPr lang="en"/>
              <a:t> by all food category classes.</a:t>
            </a:r>
            <a:endParaRPr/>
          </a:p>
        </p:txBody>
      </p:sp>
      <p:sp>
        <p:nvSpPr>
          <p:cNvPr id="517" name="Google Shape;517;p59"/>
          <p:cNvSpPr txBox="1"/>
          <p:nvPr>
            <p:ph idx="3" type="subTitle"/>
          </p:nvPr>
        </p:nvSpPr>
        <p:spPr>
          <a:xfrm>
            <a:off x="4837250" y="2131100"/>
            <a:ext cx="3154800" cy="23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DisplayInfo uses polymorphism and encapsulation to show options in each </a:t>
            </a:r>
            <a:r>
              <a:rPr lang="en" sz="1600"/>
              <a:t>category.</a:t>
            </a:r>
            <a:r>
              <a:rPr lang="en" sz="1600"/>
              <a:t> </a:t>
            </a:r>
            <a:endParaRPr sz="1600"/>
          </a:p>
        </p:txBody>
      </p:sp>
      <p:sp>
        <p:nvSpPr>
          <p:cNvPr id="518" name="Google Shape;518;p59"/>
          <p:cNvSpPr txBox="1"/>
          <p:nvPr>
            <p:ph type="title"/>
          </p:nvPr>
        </p:nvSpPr>
        <p:spPr>
          <a:xfrm>
            <a:off x="361975" y="962100"/>
            <a:ext cx="6346800" cy="4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OOP IMPLEMENTATION</a:t>
            </a:r>
            <a:endParaRPr i="1"/>
          </a:p>
        </p:txBody>
      </p:sp>
      <p:sp>
        <p:nvSpPr>
          <p:cNvPr id="519" name="Google Shape;519;p5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0" name="Google Shape;520;p59"/>
          <p:cNvSpPr txBox="1"/>
          <p:nvPr/>
        </p:nvSpPr>
        <p:spPr>
          <a:xfrm>
            <a:off x="3891910" y="2485572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1" name="Google Shape;521;p59"/>
          <p:cNvSpPr txBox="1"/>
          <p:nvPr/>
        </p:nvSpPr>
        <p:spPr>
          <a:xfrm>
            <a:off x="3891910" y="347415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2" name="Google Shape;522;p59"/>
          <p:cNvSpPr txBox="1"/>
          <p:nvPr/>
        </p:nvSpPr>
        <p:spPr>
          <a:xfrm>
            <a:off x="8437310" y="3595709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3" name="Google Shape;523;p59"/>
          <p:cNvSpPr txBox="1"/>
          <p:nvPr/>
        </p:nvSpPr>
        <p:spPr>
          <a:xfrm>
            <a:off x="8437295" y="2393547"/>
            <a:ext cx="5001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-330200" lvl="0" marL="457200" rtl="0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Newsreader"/>
              <a:buChar char="➔"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4" name="Google Shape;524;p59"/>
          <p:cNvSpPr txBox="1"/>
          <p:nvPr/>
        </p:nvSpPr>
        <p:spPr>
          <a:xfrm flipH="1">
            <a:off x="8437300" y="3689775"/>
            <a:ext cx="5001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37150" wrap="square" tIns="91425">
            <a:noAutofit/>
          </a:bodyPr>
          <a:lstStyle/>
          <a:p>
            <a:pPr indent="0" lvl="0" marL="45720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accent2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525" name="Google Shape;525;p59"/>
          <p:cNvSpPr txBox="1"/>
          <p:nvPr>
            <p:ph idx="5" type="subTitle"/>
          </p:nvPr>
        </p:nvSpPr>
        <p:spPr>
          <a:xfrm>
            <a:off x="2781225" y="4331750"/>
            <a:ext cx="38553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MainFrame implements Main GUI and displays all menu items, allows the addition and removal of items.</a:t>
            </a:r>
            <a:endParaRPr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60"/>
          <p:cNvSpPr txBox="1"/>
          <p:nvPr>
            <p:ph type="title"/>
          </p:nvPr>
        </p:nvSpPr>
        <p:spPr>
          <a:xfrm>
            <a:off x="361975" y="988550"/>
            <a:ext cx="5356800" cy="135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Next?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Polish UI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 customer accounts 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 a cart function and price total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Add a delivery </a:t>
            </a:r>
            <a:r>
              <a:rPr lang="en"/>
              <a:t>function</a:t>
            </a:r>
            <a:r>
              <a:rPr lang="en"/>
              <a:t> that allows user to input </a:t>
            </a:r>
            <a:r>
              <a:rPr lang="en"/>
              <a:t>address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Allow users to put their phone number in and </a:t>
            </a:r>
            <a:r>
              <a:rPr lang="en"/>
              <a:t>receive</a:t>
            </a:r>
            <a:r>
              <a:rPr lang="en"/>
              <a:t> a notification that their order is ready</a:t>
            </a:r>
            <a:endParaRPr/>
          </a:p>
        </p:txBody>
      </p:sp>
      <p:sp>
        <p:nvSpPr>
          <p:cNvPr id="531" name="Google Shape;531;p6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 glass ceiling" id="532" name="Google Shape;532;p60"/>
          <p:cNvPicPr preferRelativeResize="0"/>
          <p:nvPr/>
        </p:nvPicPr>
        <p:blipFill rotWithShape="1">
          <a:blip r:embed="rId3">
            <a:alphaModFix/>
          </a:blip>
          <a:srcRect b="10955" l="0" r="0" t="10955"/>
          <a:stretch/>
        </p:blipFill>
        <p:spPr>
          <a:xfrm>
            <a:off x="6289150" y="1793125"/>
            <a:ext cx="2853300" cy="33504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33" name="Google Shape;533;p60"/>
          <p:cNvCxnSpPr/>
          <p:nvPr/>
        </p:nvCxnSpPr>
        <p:spPr>
          <a:xfrm>
            <a:off x="381900" y="4677449"/>
            <a:ext cx="53628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61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539" name="Google Shape;539;p61"/>
          <p:cNvSpPr txBox="1"/>
          <p:nvPr>
            <p:ph idx="1" type="subTitle"/>
          </p:nvPr>
        </p:nvSpPr>
        <p:spPr>
          <a:xfrm>
            <a:off x="451475" y="1424400"/>
            <a:ext cx="3370500" cy="75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END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